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93365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5943600" y="-731520"/>
            <a:ext cx="5029200" cy="5029200"/>
          </a:xfrm>
          <a:prstGeom prst="ellipse">
            <a:avLst/>
          </a:prstGeom>
          <a:solidFill>
            <a:srgbClr val="2D5FBF">
              <a:alpha val="30000"/>
            </a:srgbClr>
          </a:solidFill>
          <a:ln w="12700">
            <a:solidFill>
              <a:srgbClr val="2D5FB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858000" y="2011680"/>
            <a:ext cx="3200400" cy="3200400"/>
          </a:xfrm>
          <a:prstGeom prst="ellipse">
            <a:avLst/>
          </a:prstGeom>
          <a:solidFill>
            <a:srgbClr val="4F8EF7">
              <a:alpha val="20000"/>
            </a:srgbClr>
          </a:solidFill>
          <a:ln w="12700">
            <a:solidFill>
              <a:srgbClr val="4F8EF7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54864" cy="82296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13232" y="84124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AdmitGuard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713232" y="1572768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 Compliance.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at the Point of Entry.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13232" y="2606040"/>
            <a:ext cx="3200400" cy="36576"/>
          </a:xfrm>
          <a:prstGeom prst="rect">
            <a:avLst/>
          </a:prstGeom>
          <a:solidFill>
            <a:srgbClr val="4F8EF7">
              <a:alpha val="60000"/>
            </a:srgbClr>
          </a:solidFill>
          <a:ln w="12700">
            <a:solidFill>
              <a:srgbClr val="4F8EF7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13232" y="278892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Avishka Jindal  ·  PG Diploma AI-ML &amp; Agentic AI Engineering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Futurense × IIT Gandhinagar  ·  February 2026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13232" y="3611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PROPOSAL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2D5FBF"/>
          </a:solidFill>
          <a:ln w="12700">
            <a:solidFill>
              <a:srgbClr val="2D5F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79476" y="-18288"/>
            <a:ext cx="8823960" cy="914400"/>
          </a:xfrm>
          <a:prstGeom prst="rect">
            <a:avLst/>
          </a:prstGeom>
          <a:solidFill>
            <a:srgbClr val="F4F7FF"/>
          </a:solidFill>
          <a:ln w="12700">
            <a:solidFill>
              <a:srgbClr val="F4F7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91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4114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admissions data enters the system unchecked.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1280160" cy="41148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737360" y="1207008"/>
            <a:ext cx="164592" cy="109728"/>
          </a:xfrm>
          <a:prstGeom prst="rect">
            <a:avLst/>
          </a:prstGeom>
          <a:solidFill>
            <a:srgbClr val="8898AA"/>
          </a:solidFill>
          <a:ln w="12700">
            <a:solidFill>
              <a:srgbClr val="8898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901952" y="1051560"/>
            <a:ext cx="1280160" cy="41148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901952" y="10515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Counselor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182112" y="1207008"/>
            <a:ext cx="164592" cy="109728"/>
          </a:xfrm>
          <a:prstGeom prst="rect">
            <a:avLst/>
          </a:prstGeom>
          <a:solidFill>
            <a:srgbClr val="8898AA"/>
          </a:solidFill>
          <a:ln w="12700">
            <a:solidFill>
              <a:srgbClr val="8898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346704" y="1051560"/>
            <a:ext cx="1280160" cy="41148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346704" y="10515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26864" y="1207008"/>
            <a:ext cx="164592" cy="109728"/>
          </a:xfrm>
          <a:prstGeom prst="rect">
            <a:avLst/>
          </a:prstGeom>
          <a:solidFill>
            <a:srgbClr val="8898AA"/>
          </a:solidFill>
          <a:ln w="12700">
            <a:solidFill>
              <a:srgbClr val="8898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791456" y="1051560"/>
            <a:ext cx="1280160" cy="41148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791456" y="10515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71616" y="1207008"/>
            <a:ext cx="164592" cy="109728"/>
          </a:xfrm>
          <a:prstGeom prst="rect">
            <a:avLst/>
          </a:prstGeom>
          <a:solidFill>
            <a:srgbClr val="8898AA"/>
          </a:solidFill>
          <a:ln w="12700">
            <a:solidFill>
              <a:srgbClr val="8898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236208" y="1051560"/>
            <a:ext cx="1280160" cy="41148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236208" y="10515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⚠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516368" y="1207008"/>
            <a:ext cx="164592" cy="109728"/>
          </a:xfrm>
          <a:prstGeom prst="rect">
            <a:avLst/>
          </a:prstGeom>
          <a:solidFill>
            <a:srgbClr val="8898AA"/>
          </a:solidFill>
          <a:ln w="12700">
            <a:solidFill>
              <a:srgbClr val="8898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7680960" y="1051560"/>
            <a:ext cx="1280160" cy="411480"/>
          </a:xfrm>
          <a:prstGeom prst="rect">
            <a:avLst/>
          </a:prstGeom>
          <a:solidFill>
            <a:srgbClr val="2D5FBF"/>
          </a:solidFill>
          <a:ln w="12700">
            <a:solidFill>
              <a:srgbClr val="2D5FBF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680960" y="10515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1581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Eligibility failures detected here — after operational time is already spent.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19659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2304288"/>
            <a:ext cx="4114800" cy="475488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57200" y="2304288"/>
            <a:ext cx="64008" cy="47548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94360" y="2340864"/>
            <a:ext cx="3886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 allows unrestricted manual entry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7200" y="2926080"/>
            <a:ext cx="4114800" cy="475488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457200" y="2926080"/>
            <a:ext cx="64008" cy="47548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94360" y="2962656"/>
            <a:ext cx="3886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rule-based validation at the entry point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57200" y="3547872"/>
            <a:ext cx="4114800" cy="475488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457200" y="3547872"/>
            <a:ext cx="64008" cy="47548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594360" y="3584448"/>
            <a:ext cx="3886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ops misaligned with eligibility criteria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800600" y="2304288"/>
            <a:ext cx="4114800" cy="475488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4800600" y="2304288"/>
            <a:ext cx="64008" cy="47548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937760" y="2340864"/>
            <a:ext cx="3886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Verbal exception approvals — no documentation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800600" y="2926080"/>
            <a:ext cx="4114800" cy="475488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4800600" y="2926080"/>
            <a:ext cx="64008" cy="47548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4937760" y="2962656"/>
            <a:ext cx="3886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change per cohort with no structured update mechanism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57200" y="4553712"/>
            <a:ext cx="8229600" cy="41148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57200" y="455371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ISSUE:  Validation happens after cost is incurred — not before.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costs per cohort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560320" cy="1645920"/>
          </a:xfrm>
          <a:prstGeom prst="rect">
            <a:avLst/>
          </a:prstGeom>
          <a:solidFill>
            <a:srgbClr val="2D5FBF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2560320" cy="6400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hours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 per cohort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48716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ops data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91840" y="1097280"/>
            <a:ext cx="2560320" cy="1645920"/>
          </a:xfrm>
          <a:prstGeom prst="rect">
            <a:avLst/>
          </a:prstGeom>
          <a:solidFill>
            <a:srgbClr val="2D5FBF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291840" y="1097280"/>
            <a:ext cx="2560320" cy="6400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91840" y="11887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3291840" y="19659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Rejection rate at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stage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91840" y="248716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time is spent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26480" y="1097280"/>
            <a:ext cx="2560320" cy="1645920"/>
          </a:xfrm>
          <a:prstGeom prst="rect">
            <a:avLst/>
          </a:prstGeom>
          <a:solidFill>
            <a:srgbClr val="2D5FBF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126480" y="1097280"/>
            <a:ext cx="2560320" cy="6400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126480" y="11887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</a:t>
            </a:r>
            <a:endParaRPr lang="en-US" sz="4600" dirty="0"/>
          </a:p>
        </p:txBody>
      </p:sp>
      <p:sp>
        <p:nvSpPr>
          <p:cNvPr id="18" name="Text 16"/>
          <p:cNvSpPr/>
          <p:nvPr/>
        </p:nvSpPr>
        <p:spPr>
          <a:xfrm>
            <a:off x="6126480" y="19659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audit trail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exceptions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26480" y="248716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compliance record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2926080"/>
            <a:ext cx="8229600" cy="1371600"/>
          </a:xfrm>
          <a:prstGeom prst="rect">
            <a:avLst/>
          </a:prstGeom>
          <a:solidFill>
            <a:srgbClr val="162050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40080" y="29992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QUANTIFIED REALITY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32918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hrs per ineligible candidate  ×  7–8 candidates per cohort  ≈  </a:t>
            </a:r>
            <a:r>
              <a:rPr lang="en-US" sz="13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40–45 operational hours lost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counselor time misallocated  ·  Panel interview time wasted  ·  Compliance exposure with IIT partners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446227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Admissions validation happens after operational damage occurs.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20040" y="0"/>
            <a:ext cx="8823960" cy="914400"/>
          </a:xfrm>
          <a:prstGeom prst="rect">
            <a:avLst/>
          </a:prstGeom>
          <a:solidFill>
            <a:srgbClr val="F4F7FF"/>
          </a:solidFill>
          <a:ln w="12700">
            <a:solidFill>
              <a:srgbClr val="F4F7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91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4297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AdmitGuard — A rule-governed validation layer at point of entry.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822960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AdmitGuard replaces the entry point — not the spreadsheet.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1490472"/>
            <a:ext cx="4023360" cy="1371600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57200" y="1490472"/>
            <a:ext cx="64008" cy="137160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21792" y="1627632"/>
            <a:ext cx="347472" cy="34747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21792" y="162763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162763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Rule Enforcement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21792" y="205740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eligibility rules block invalid submissions outright — before any time is allocated.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00600" y="1490472"/>
            <a:ext cx="4023360" cy="1371600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800600" y="1490472"/>
            <a:ext cx="64008" cy="137160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965192" y="1627632"/>
            <a:ext cx="347472" cy="34747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965192" y="162763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94960" y="162763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Exception Governance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965192" y="205740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violations require structured rationale before any override is permitted.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090672"/>
            <a:ext cx="4023360" cy="1371600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57200" y="3090672"/>
            <a:ext cx="64008" cy="137160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621792" y="3227832"/>
            <a:ext cx="347472" cy="34747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21792" y="322783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51560" y="322783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Cohort Rules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21792" y="365760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rules are externalized — update per cohort without touching UI code.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00600" y="3090672"/>
            <a:ext cx="4023360" cy="1371600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4800600" y="3090672"/>
            <a:ext cx="64008" cy="137160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4965192" y="3227832"/>
            <a:ext cx="347472" cy="34747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965192" y="322783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394960" y="322783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Compliance Trail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965192" y="365760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submission timestamped, rationales recorded, fully exportable for audits.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4599432"/>
            <a:ext cx="8366760" cy="356616"/>
          </a:xfrm>
          <a:prstGeom prst="rect">
            <a:avLst/>
          </a:prstGeom>
          <a:solidFill>
            <a:srgbClr val="F4F7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228600" y="46360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occurs upstream — before interview time is allocated.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Built for Replaceability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14400" y="1188720"/>
            <a:ext cx="6858000" cy="658368"/>
          </a:xfrm>
          <a:prstGeom prst="rect">
            <a:avLst/>
          </a:prstGeom>
          <a:solidFill>
            <a:srgbClr val="2D5FBF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914400" y="1188720"/>
            <a:ext cx="73152" cy="658368"/>
          </a:xfrm>
          <a:prstGeom prst="rect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097280" y="124358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UI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5361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validation logic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863840" y="1344168"/>
            <a:ext cx="347472" cy="347472"/>
          </a:xfrm>
          <a:prstGeom prst="ellipse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863840" y="13441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15968" y="1847088"/>
            <a:ext cx="54864" cy="210312"/>
          </a:xfrm>
          <a:prstGeom prst="rect">
            <a:avLst/>
          </a:prstGeom>
          <a:solidFill>
            <a:srgbClr val="4F8EF7">
              <a:alpha val="60000"/>
            </a:srgbClr>
          </a:solidFill>
          <a:ln w="12700">
            <a:solidFill>
              <a:srgbClr val="4F8EF7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914400" y="2057400"/>
            <a:ext cx="6858000" cy="658368"/>
          </a:xfrm>
          <a:prstGeom prst="rect">
            <a:avLst/>
          </a:prstGeom>
          <a:solidFill>
            <a:srgbClr val="2D5FBF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914400" y="2057400"/>
            <a:ext cx="73152" cy="658368"/>
          </a:xfrm>
          <a:prstGeom prst="rect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097280" y="211226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Engine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24048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rule tokens dynamically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863840" y="2212848"/>
            <a:ext cx="347472" cy="347472"/>
          </a:xfrm>
          <a:prstGeom prst="ellipse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863840" y="22128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15968" y="2715768"/>
            <a:ext cx="54864" cy="210312"/>
          </a:xfrm>
          <a:prstGeom prst="rect">
            <a:avLst/>
          </a:prstGeom>
          <a:solidFill>
            <a:srgbClr val="4F8EF7">
              <a:alpha val="60000"/>
            </a:srgbClr>
          </a:solidFill>
          <a:ln w="12700">
            <a:solidFill>
              <a:srgbClr val="4F8EF7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914400" y="2926080"/>
            <a:ext cx="6858000" cy="658368"/>
          </a:xfrm>
          <a:prstGeom prst="rect">
            <a:avLst/>
          </a:prstGeom>
          <a:solidFill>
            <a:srgbClr val="2D5FBF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914400" y="2926080"/>
            <a:ext cx="73152" cy="658368"/>
          </a:xfrm>
          <a:prstGeom prst="rect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1097280" y="298094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Config Layer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32735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Externalized — no code changes needed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863840" y="3081528"/>
            <a:ext cx="347472" cy="347472"/>
          </a:xfrm>
          <a:prstGeom prst="ellipse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7863840" y="30815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315968" y="3584448"/>
            <a:ext cx="54864" cy="210312"/>
          </a:xfrm>
          <a:prstGeom prst="rect">
            <a:avLst/>
          </a:prstGeom>
          <a:solidFill>
            <a:srgbClr val="4F8EF7">
              <a:alpha val="60000"/>
            </a:srgbClr>
          </a:solidFill>
          <a:ln w="12700">
            <a:solidFill>
              <a:srgbClr val="4F8EF7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914400" y="3794760"/>
            <a:ext cx="6858000" cy="658368"/>
          </a:xfrm>
          <a:prstGeom prst="rect">
            <a:avLst/>
          </a:prstGeom>
          <a:solidFill>
            <a:srgbClr val="2D5FBF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914400" y="3794760"/>
            <a:ext cx="73152" cy="658368"/>
          </a:xfrm>
          <a:prstGeom prst="rect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1097280" y="384962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Layer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97280" y="41422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→ Sheets → Database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863840" y="3950208"/>
            <a:ext cx="347472" cy="347472"/>
          </a:xfrm>
          <a:prstGeom prst="ellipse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7863840" y="39502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supports scale without rebuild.  ·  No backend dependency in v1.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20040" y="0"/>
            <a:ext cx="8823960" cy="914400"/>
          </a:xfrm>
          <a:prstGeom prst="rect">
            <a:avLst/>
          </a:prstGeom>
          <a:solidFill>
            <a:srgbClr val="F4F7FF"/>
          </a:solidFill>
          <a:ln w="12700">
            <a:solidFill>
              <a:srgbClr val="F4F7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91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IMPLEMENTATION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4297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operational leverage at near-zero cost.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3931920" cy="3474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9436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REQUIRED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1508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Build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94360" y="17830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hours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2219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Time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249631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week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94360" y="29352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Cost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94360" y="320954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94360" y="36484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Required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94360" y="392277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30 min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663440" y="1005840"/>
            <a:ext cx="4023360" cy="1371600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80060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SAVINGS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00600" y="14173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 hours saved per cohort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800600" y="184708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counselor &amp; panel interview time recovered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63440" y="2514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REDUCTION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63440" y="2834640"/>
            <a:ext cx="4023360" cy="438912"/>
          </a:xfrm>
          <a:prstGeom prst="rect">
            <a:avLst/>
          </a:prstGeom>
          <a:solidFill>
            <a:srgbClr val="F4F7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773168" y="2944368"/>
            <a:ext cx="228600" cy="228600"/>
          </a:xfrm>
          <a:prstGeom prst="ellipse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093208" y="290779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exception documentation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3383280"/>
            <a:ext cx="4023360" cy="438912"/>
          </a:xfrm>
          <a:prstGeom prst="rect">
            <a:avLst/>
          </a:prstGeom>
          <a:solidFill>
            <a:srgbClr val="F4F7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773168" y="3493008"/>
            <a:ext cx="228600" cy="228600"/>
          </a:xfrm>
          <a:prstGeom prst="ellipse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093208" y="345643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tracking introduced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63440" y="3931920"/>
            <a:ext cx="4023360" cy="438912"/>
          </a:xfrm>
          <a:prstGeom prst="rect">
            <a:avLst/>
          </a:prstGeom>
          <a:solidFill>
            <a:srgbClr val="F4F7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4773168" y="4041648"/>
            <a:ext cx="228600" cy="228600"/>
          </a:xfrm>
          <a:prstGeom prst="ellipse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5093208" y="400507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enforcement moved upstream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complexity.  ·  High operational leverage.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VIABILITY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Feasible Today. Scalable Tomorrow.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697480" cy="3566160"/>
          </a:xfrm>
          <a:prstGeom prst="rect">
            <a:avLst/>
          </a:prstGeom>
          <a:solidFill>
            <a:srgbClr val="2D5FBF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2697480" cy="38404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65760" y="1097280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627632"/>
            <a:ext cx="2423160" cy="548640"/>
          </a:xfrm>
          <a:prstGeom prst="rect">
            <a:avLst/>
          </a:prstGeom>
          <a:solidFill>
            <a:srgbClr val="16205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48640" y="1783080"/>
            <a:ext cx="228600" cy="228600"/>
          </a:xfrm>
          <a:prstGeom prst="ellipse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68680" y="170078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fully functional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2331720"/>
            <a:ext cx="2423160" cy="548640"/>
          </a:xfrm>
          <a:prstGeom prst="rect">
            <a:avLst/>
          </a:prstGeom>
          <a:solidFill>
            <a:srgbClr val="16205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548640" y="2487168"/>
            <a:ext cx="228600" cy="228600"/>
          </a:xfrm>
          <a:prstGeom prst="ellipse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68680" y="240487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against 14 edge cases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3035808"/>
            <a:ext cx="2423160" cy="548640"/>
          </a:xfrm>
          <a:prstGeom prst="rect">
            <a:avLst/>
          </a:prstGeom>
          <a:solidFill>
            <a:srgbClr val="16205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548640" y="3191256"/>
            <a:ext cx="228600" cy="228600"/>
          </a:xfrm>
          <a:prstGeom prst="ellipse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68680" y="31089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infrastructure dependency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3739896"/>
            <a:ext cx="2423160" cy="548640"/>
          </a:xfrm>
          <a:prstGeom prst="rect">
            <a:avLst/>
          </a:prstGeom>
          <a:solidFill>
            <a:srgbClr val="16205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548640" y="3895344"/>
            <a:ext cx="228600" cy="228600"/>
          </a:xfrm>
          <a:prstGeom prst="ellipse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868680" y="38130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Deployable in &lt; 1 week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91840" y="1097280"/>
            <a:ext cx="2697480" cy="3566160"/>
          </a:xfrm>
          <a:prstGeom prst="rect">
            <a:avLst/>
          </a:prstGeom>
          <a:solidFill>
            <a:srgbClr val="2D5FBF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291840" y="1097280"/>
            <a:ext cx="2697480" cy="38404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291840" y="1097280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429000" y="1627632"/>
            <a:ext cx="2423160" cy="548640"/>
          </a:xfrm>
          <a:prstGeom prst="rect">
            <a:avLst/>
          </a:prstGeom>
          <a:solidFill>
            <a:srgbClr val="16205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3474720" y="1783080"/>
            <a:ext cx="228600" cy="228600"/>
          </a:xfrm>
          <a:prstGeom prst="ellipse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794760" y="170078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scale to 50+ fields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429000" y="2331720"/>
            <a:ext cx="2423160" cy="548640"/>
          </a:xfrm>
          <a:prstGeom prst="rect">
            <a:avLst/>
          </a:prstGeom>
          <a:solidFill>
            <a:srgbClr val="16205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3474720" y="2487168"/>
            <a:ext cx="228600" cy="228600"/>
          </a:xfrm>
          <a:prstGeom prst="ellipse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3794760" y="240487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Cohort-specific configurations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429000" y="3035808"/>
            <a:ext cx="2423160" cy="548640"/>
          </a:xfrm>
          <a:prstGeom prst="rect">
            <a:avLst/>
          </a:prstGeom>
          <a:solidFill>
            <a:srgbClr val="16205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3474720" y="3191256"/>
            <a:ext cx="228600" cy="228600"/>
          </a:xfrm>
          <a:prstGeom prst="ellipse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3794760" y="31089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metrics dynamic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429000" y="3739896"/>
            <a:ext cx="2423160" cy="548640"/>
          </a:xfrm>
          <a:prstGeom prst="rect">
            <a:avLst/>
          </a:prstGeom>
          <a:solidFill>
            <a:srgbClr val="16205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3474720" y="3895344"/>
            <a:ext cx="228600" cy="228600"/>
          </a:xfrm>
          <a:prstGeom prst="ellipse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3794760" y="38130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future-proof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217920" y="1097280"/>
            <a:ext cx="2697480" cy="3566160"/>
          </a:xfrm>
          <a:prstGeom prst="rect">
            <a:avLst/>
          </a:prstGeom>
          <a:solidFill>
            <a:srgbClr val="2D5FBF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6217920" y="1097280"/>
            <a:ext cx="2697480" cy="38404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6217920" y="1097280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355080" y="1627632"/>
            <a:ext cx="2423160" cy="548640"/>
          </a:xfrm>
          <a:prstGeom prst="rect">
            <a:avLst/>
          </a:prstGeom>
          <a:solidFill>
            <a:srgbClr val="16205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6400800" y="1783080"/>
            <a:ext cx="228600" cy="228600"/>
          </a:xfrm>
          <a:prstGeom prst="ellipse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6720840" y="170078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edits in one config file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355080" y="2331720"/>
            <a:ext cx="2423160" cy="548640"/>
          </a:xfrm>
          <a:prstGeom prst="rect">
            <a:avLst/>
          </a:prstGeom>
          <a:solidFill>
            <a:srgbClr val="16205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6400800" y="2487168"/>
            <a:ext cx="228600" cy="228600"/>
          </a:xfrm>
          <a:prstGeom prst="ellipse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6720840" y="240487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UI changes for eligibility updates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355080" y="3035808"/>
            <a:ext cx="2423160" cy="548640"/>
          </a:xfrm>
          <a:prstGeom prst="rect">
            <a:avLst/>
          </a:prstGeom>
          <a:solidFill>
            <a:srgbClr val="16205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6400800" y="3191256"/>
            <a:ext cx="228600" cy="228600"/>
          </a:xfrm>
          <a:prstGeom prst="ellipse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6720840" y="31089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Layer-based structure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355080" y="3739896"/>
            <a:ext cx="2423160" cy="548640"/>
          </a:xfrm>
          <a:prstGeom prst="rect">
            <a:avLst/>
          </a:prstGeom>
          <a:solidFill>
            <a:srgbClr val="16205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6400800" y="3895344"/>
            <a:ext cx="228600" cy="228600"/>
          </a:xfrm>
          <a:prstGeom prst="ellipse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6720840" y="38130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future rework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validated. Zero infrastructure cost. Ready for deployment.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20040" y="0"/>
            <a:ext cx="8823960" cy="914400"/>
          </a:xfrm>
          <a:prstGeom prst="rect">
            <a:avLst/>
          </a:prstGeom>
          <a:solidFill>
            <a:srgbClr val="F4F7FF"/>
          </a:solidFill>
          <a:ln w="12700">
            <a:solidFill>
              <a:srgbClr val="F4F7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91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38229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4-Week Controlled Rollout + Scale Phase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7315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371600" y="932688"/>
            <a:ext cx="256032" cy="256032"/>
          </a:xfrm>
          <a:prstGeom prst="ellipse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35508" y="707605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566160" y="932688"/>
            <a:ext cx="256032" cy="256032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779776" y="7132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760720" y="932688"/>
            <a:ext cx="256032" cy="256032"/>
          </a:xfrm>
          <a:prstGeom prst="ellipse">
            <a:avLst/>
          </a:prstGeom>
          <a:solidFill>
            <a:srgbClr val="2D5FBF"/>
          </a:solidFill>
          <a:ln w="12700">
            <a:solidFill>
              <a:srgbClr val="2D5F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029200" y="707605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3–4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772400" y="932688"/>
            <a:ext cx="256032" cy="256032"/>
          </a:xfrm>
          <a:prstGeom prst="ellipse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903720" y="710419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1371600"/>
            <a:ext cx="2011680" cy="3520440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57200" y="1371600"/>
            <a:ext cx="2011680" cy="54864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48640" y="1463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— Current State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2029968"/>
            <a:ext cx="1828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40080" y="2103120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fields live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2688336"/>
            <a:ext cx="1828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40080" y="2761488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strict + 4 soft rules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8640" y="3346704"/>
            <a:ext cx="1828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40080" y="3419856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governance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4005072"/>
            <a:ext cx="1828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40080" y="4078224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+ flag logic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651760" y="1371600"/>
            <a:ext cx="2011680" cy="3520440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2651760" y="1371600"/>
            <a:ext cx="2011680" cy="54864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2743200" y="1463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— Deployment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0" y="2029968"/>
            <a:ext cx="1828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2834640" y="2103120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layer for ops testing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743200" y="2688336"/>
            <a:ext cx="1828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2834640" y="2761488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run with Sheets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743200" y="3346704"/>
            <a:ext cx="1828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2834640" y="3419856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feedback loop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46320" y="1371600"/>
            <a:ext cx="2011680" cy="3520440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4846320" y="1371600"/>
            <a:ext cx="2011680" cy="54864"/>
          </a:xfrm>
          <a:prstGeom prst="rect">
            <a:avLst/>
          </a:prstGeom>
          <a:solidFill>
            <a:srgbClr val="2D5FBF"/>
          </a:solidFill>
          <a:ln w="12700">
            <a:solidFill>
              <a:srgbClr val="2D5F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937760" y="1463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3–4 — Hardening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937760" y="2029968"/>
            <a:ext cx="1828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5029200" y="2103120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 sync via Apps Script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937760" y="2688336"/>
            <a:ext cx="1828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5029200" y="2761488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Aadhaar masking (DPDP)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937760" y="3346704"/>
            <a:ext cx="1828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5029200" y="3419856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access control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937760" y="4005072"/>
            <a:ext cx="1828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5029200" y="4078224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Run hosting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858000" y="1371600"/>
            <a:ext cx="2011680" cy="3520440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6858000" y="1371600"/>
            <a:ext cx="2011680" cy="54864"/>
          </a:xfrm>
          <a:prstGeom prst="rect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6949440" y="1463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 — Scale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949440" y="2029968"/>
            <a:ext cx="1828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7040880" y="2103120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database persistence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949440" y="2688336"/>
            <a:ext cx="1828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7040880" y="2761488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approval queue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949440" y="3346704"/>
            <a:ext cx="1828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7040880" y="3419856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editor UI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949440" y="4005072"/>
            <a:ext cx="1828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7040880" y="4078224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CRM/API integration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200400"/>
            <a:ext cx="5029200" cy="5029200"/>
          </a:xfrm>
          <a:prstGeom prst="ellipse">
            <a:avLst/>
          </a:prstGeom>
          <a:solidFill>
            <a:srgbClr val="2D5FBF">
              <a:alpha val="35000"/>
            </a:srgbClr>
          </a:solidFill>
          <a:ln w="12700">
            <a:solidFill>
              <a:srgbClr val="2D5FBF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858000" y="-1371600"/>
            <a:ext cx="4114800" cy="4114800"/>
          </a:xfrm>
          <a:prstGeom prst="ellipse">
            <a:avLst/>
          </a:prstGeom>
          <a:solidFill>
            <a:srgbClr val="4F8EF7">
              <a:alpha val="25000"/>
            </a:srgbClr>
          </a:solidFill>
          <a:ln w="12700">
            <a:solidFill>
              <a:srgbClr val="4F8EF7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14400" y="731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10972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Admissions is a compliance-driven process.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rule enforcement at entry, inefficiency is guaranteed.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371600" y="2286000"/>
            <a:ext cx="6400800" cy="91440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371600" y="22860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AdmitGuard shifts validation to the only place it matters: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moment of submission.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914400" y="3429000"/>
            <a:ext cx="2286000" cy="1097280"/>
          </a:xfrm>
          <a:prstGeom prst="rect">
            <a:avLst/>
          </a:prstGeom>
          <a:solidFill>
            <a:srgbClr val="2D5FBF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914400" y="3429000"/>
            <a:ext cx="2286000" cy="54864"/>
          </a:xfrm>
          <a:prstGeom prst="rect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914400" y="3493008"/>
            <a:ext cx="2286000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as upstream layer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2 weeks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0" y="3429000"/>
            <a:ext cx="2286000" cy="1097280"/>
          </a:xfrm>
          <a:prstGeom prst="rect">
            <a:avLst/>
          </a:prstGeom>
          <a:solidFill>
            <a:srgbClr val="2D5FBF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474720" y="3429000"/>
            <a:ext cx="2286000" cy="54864"/>
          </a:xfrm>
          <a:prstGeom prst="rect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474720" y="3493008"/>
            <a:ext cx="2286000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data flows into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3429000"/>
            <a:ext cx="2286000" cy="1097280"/>
          </a:xfrm>
          <a:prstGeom prst="rect">
            <a:avLst/>
          </a:prstGeom>
          <a:solidFill>
            <a:srgbClr val="2D5FBF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035040" y="3429000"/>
            <a:ext cx="2286000" cy="54864"/>
          </a:xfrm>
          <a:prstGeom prst="rect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035040" y="3493008"/>
            <a:ext cx="2286000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reduced before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is spent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recommend a phased deployment starting next cohort.  ·  Happy to discuss timeline and integration details.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641</Words>
  <Application>Microsoft Office PowerPoint</Application>
  <PresentationFormat>On-screen Show (16:9)</PresentationFormat>
  <Paragraphs>155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AdmitGuard — Investor Pitch Deck</dc:title>
  <dc:subject>PptxGenJS Presentation</dc:subject>
  <dc:creator>PptxGenJS</dc:creator>
  <cp:lastModifiedBy>Avishka Jindal</cp:lastModifiedBy>
  <cp:revision>3</cp:revision>
  <dcterms:created xsi:type="dcterms:W3CDTF">2026-02-27T19:49:10Z</dcterms:created>
  <dcterms:modified xsi:type="dcterms:W3CDTF">2026-02-27T21:33:46Z</dcterms:modified>
</cp:coreProperties>
</file>